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04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2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80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70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2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63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8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5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52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09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86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58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645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6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7DF56E-9C13-480D-9019-D4C88C65BDB8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DC13C2-D0B5-4D4E-9A96-52C618E7E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5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Indian Institute of Technology Bhubaneswar (Fees &amp; Reviews): India, Odish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80364"/>
            <a:ext cx="2380620" cy="204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45920" y="2554560"/>
            <a:ext cx="94381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Project title: Predictive </a:t>
            </a:r>
            <a:r>
              <a:rPr lang="en-US" sz="2400" b="1" dirty="0"/>
              <a:t>Modeling for Graduate </a:t>
            </a:r>
            <a:r>
              <a:rPr lang="en-US" sz="2400" b="1" dirty="0" smtClean="0"/>
              <a:t>Admission</a:t>
            </a:r>
          </a:p>
          <a:p>
            <a:r>
              <a:rPr lang="en-US" sz="2400" b="1" dirty="0" smtClean="0"/>
              <a:t>                       Machine learning project 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               Group no. :25</a:t>
            </a:r>
          </a:p>
          <a:p>
            <a:r>
              <a:rPr lang="en-US" sz="2400" b="1" dirty="0" smtClean="0"/>
              <a:t>                       Group members : </a:t>
            </a:r>
            <a:r>
              <a:rPr lang="en-US" sz="2400" b="1" dirty="0" err="1" smtClean="0"/>
              <a:t>Iqra</a:t>
            </a:r>
            <a:r>
              <a:rPr lang="en-US" sz="2400" b="1" dirty="0" smtClean="0"/>
              <a:t> </a:t>
            </a:r>
            <a:r>
              <a:rPr lang="en-US" sz="2400" b="1" dirty="0"/>
              <a:t>T</a:t>
            </a:r>
            <a:r>
              <a:rPr lang="en-US" sz="2400" b="1" dirty="0" smtClean="0"/>
              <a:t>ariq (PhD)</a:t>
            </a:r>
          </a:p>
          <a:p>
            <a:r>
              <a:rPr lang="en-US" sz="2400" b="1" dirty="0" smtClean="0"/>
              <a:t>                                                      </a:t>
            </a:r>
            <a:r>
              <a:rPr lang="en-US" sz="2400" b="1" dirty="0" err="1" smtClean="0"/>
              <a:t>Atul</a:t>
            </a:r>
            <a:r>
              <a:rPr lang="en-US" sz="2400" b="1" dirty="0" smtClean="0"/>
              <a:t>  (</a:t>
            </a:r>
            <a:r>
              <a:rPr lang="en-US" sz="2400" b="1" dirty="0" err="1"/>
              <a:t>M</a:t>
            </a:r>
            <a:r>
              <a:rPr lang="en-US" sz="2400" b="1" dirty="0" err="1" smtClean="0"/>
              <a:t>tech</a:t>
            </a:r>
            <a:r>
              <a:rPr lang="en-US" sz="2400" b="1" dirty="0" smtClean="0"/>
              <a:t>) </a:t>
            </a:r>
          </a:p>
          <a:p>
            <a:r>
              <a:rPr lang="en-US" sz="2400" b="1" dirty="0" smtClean="0"/>
              <a:t>                                                      </a:t>
            </a:r>
            <a:r>
              <a:rPr lang="en-US" sz="2400" b="1" dirty="0" err="1" smtClean="0"/>
              <a:t>Shravya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B.tech</a:t>
            </a:r>
            <a:r>
              <a:rPr lang="en-US" sz="2400" b="1" dirty="0" smtClean="0"/>
              <a:t>)</a:t>
            </a:r>
          </a:p>
          <a:p>
            <a:r>
              <a:rPr lang="en-US" sz="2400" b="1" dirty="0" smtClean="0"/>
              <a:t>                                                      </a:t>
            </a:r>
            <a:r>
              <a:rPr lang="en-US" sz="2400" b="1" dirty="0" err="1" smtClean="0"/>
              <a:t>Anshul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B.tech</a:t>
            </a:r>
            <a:r>
              <a:rPr lang="en-US" sz="2400" b="1" dirty="0" smtClean="0"/>
              <a:t>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7946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8657" y="604299"/>
            <a:ext cx="7999012" cy="664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B0F0"/>
                </a:solidFill>
              </a:rPr>
              <a:t>Contents</a:t>
            </a:r>
          </a:p>
          <a:p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b="1" dirty="0" smtClean="0"/>
              <a:t>Objectives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Dataset </a:t>
            </a:r>
            <a:r>
              <a:rPr lang="en-US" sz="2000" b="1" dirty="0" smtClean="0"/>
              <a:t>Description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Regression </a:t>
            </a:r>
            <a:r>
              <a:rPr lang="en-US" sz="2000" b="1" dirty="0" smtClean="0"/>
              <a:t>models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Classification </a:t>
            </a:r>
            <a:r>
              <a:rPr lang="en-US" sz="2000" b="1" dirty="0" smtClean="0"/>
              <a:t>models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Regression Performance </a:t>
            </a:r>
            <a:r>
              <a:rPr lang="en-US" sz="2000" b="1" dirty="0" smtClean="0"/>
              <a:t>Metrics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/>
              <a:t>Classification models performances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/>
              <a:t>Conclusion </a:t>
            </a:r>
            <a:endParaRPr lang="en-US" sz="2000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5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2695" y="771276"/>
            <a:ext cx="992322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F0"/>
                </a:solidFill>
              </a:rPr>
              <a:t>Introduction</a:t>
            </a:r>
          </a:p>
          <a:p>
            <a:endParaRPr lang="en-US" sz="28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The process of graduate admissions is complex, relying on a multitude of applicant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variables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This project predicts graduate admission outcomes using the Jamboree_Admission.csv dataset via regression and classification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approaches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T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his </a:t>
            </a:r>
            <a:r>
              <a:rPr lang="en-US" dirty="0">
                <a:latin typeface="+mj-lt"/>
                <a:cs typeface="Arial" panose="020B0604020202020204" pitchFamily="34" charset="0"/>
              </a:rPr>
              <a:t>project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applies </a:t>
            </a:r>
            <a:r>
              <a:rPr lang="en-US" dirty="0">
                <a:latin typeface="+mj-lt"/>
                <a:cs typeface="Arial" panose="020B0604020202020204" pitchFamily="34" charset="0"/>
              </a:rPr>
              <a:t>advanced machine learning techniques to forecast admission outcomes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The project addresses two distinct tasks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marL="800100" lvl="1" indent="-342900">
              <a:buAutoNum type="alphaLcParenR"/>
            </a:pPr>
            <a:r>
              <a:rPr lang="en-US" b="1" dirty="0" smtClean="0">
                <a:latin typeface="+mj-lt"/>
                <a:cs typeface="Arial" panose="020B0604020202020204" pitchFamily="34" charset="0"/>
              </a:rPr>
              <a:t>Regression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: </a:t>
            </a:r>
            <a:r>
              <a:rPr lang="en-US" dirty="0">
                <a:latin typeface="+mj-lt"/>
                <a:cs typeface="Arial" panose="020B0604020202020204" pitchFamily="34" charset="0"/>
              </a:rPr>
              <a:t>Predicting the continuous variable Chance of Admit (0 to 1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).</a:t>
            </a:r>
          </a:p>
          <a:p>
            <a:pPr marL="800100" lvl="1" indent="-342900">
              <a:buAutoNum type="alphaLcParenR"/>
            </a:pPr>
            <a:endParaRPr lang="en-US" dirty="0">
              <a:latin typeface="+mj-lt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+mj-lt"/>
                <a:cs typeface="Arial" panose="020B0604020202020204" pitchFamily="34" charset="0"/>
              </a:rPr>
              <a:t>b)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Classification: </a:t>
            </a:r>
            <a:r>
              <a:rPr lang="en-US" dirty="0">
                <a:latin typeface="+mj-lt"/>
                <a:cs typeface="Arial" panose="020B0604020202020204" pitchFamily="34" charset="0"/>
              </a:rPr>
              <a:t>Predicting the binary outcome: Admit (1) or Reject (0), derived from the</a:t>
            </a:r>
          </a:p>
          <a:p>
            <a:r>
              <a:rPr lang="en-US" dirty="0" smtClean="0">
                <a:latin typeface="+mj-lt"/>
                <a:cs typeface="Arial" panose="020B0604020202020204" pitchFamily="34" charset="0"/>
              </a:rPr>
              <a:t>         continuous </a:t>
            </a:r>
            <a:r>
              <a:rPr lang="en-US" dirty="0">
                <a:latin typeface="+mj-lt"/>
                <a:cs typeface="Arial" panose="020B0604020202020204" pitchFamily="34" charset="0"/>
              </a:rPr>
              <a:t>chance variable using different thresholds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B0604020202020204" pitchFamily="34" charset="0"/>
              </a:rPr>
              <a:t>The models’ performance is evaluated on a dedicated test set, isolated by splitting the dataset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in different </a:t>
            </a:r>
            <a:r>
              <a:rPr lang="en-US" dirty="0">
                <a:latin typeface="+mj-lt"/>
                <a:cs typeface="Arial" panose="020B0604020202020204" pitchFamily="34" charset="0"/>
              </a:rPr>
              <a:t>ratios to simulate real-world prediction on unseen data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 </a:t>
            </a:r>
            <a:endParaRPr lang="en-US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1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5962" y="906449"/>
            <a:ext cx="101935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sz="2400" b="1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6650" y="1091115"/>
            <a:ext cx="1031284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</a:rPr>
              <a:t>Objectives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We used the publically available dataset </a:t>
            </a:r>
            <a:r>
              <a:rPr lang="en-US" b="1" dirty="0" smtClean="0">
                <a:latin typeface="+mj-lt"/>
                <a:cs typeface="Arial" panose="020B0604020202020204" pitchFamily="34" charset="0"/>
              </a:rPr>
              <a:t>“</a:t>
            </a:r>
            <a:r>
              <a:rPr lang="en-US" b="1" dirty="0" smtClean="0">
                <a:latin typeface="+mj-lt"/>
                <a:cs typeface="Arial" panose="020B0604020202020204" pitchFamily="34" charset="0"/>
              </a:rPr>
              <a:t>Jamboree_Admission.csv dataset </a:t>
            </a:r>
            <a:r>
              <a:rPr lang="en-US" b="1" dirty="0" smtClean="0">
                <a:latin typeface="+mj-lt"/>
                <a:cs typeface="Arial" panose="020B0604020202020204" pitchFamily="34" charset="0"/>
              </a:rPr>
              <a:t>”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b="1" dirty="0" smtClean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Applying regression models both linear and polynomial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 smtClean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Improve model accuracy by regularization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 smtClean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Applying different classification models on same dataset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 smtClean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Comparing classifications in terms of accuracy and </a:t>
            </a:r>
            <a:r>
              <a:rPr lang="en-US" b="1" dirty="0" smtClean="0">
                <a:latin typeface="+mj-lt"/>
                <a:cs typeface="Arial" panose="020B0604020202020204" pitchFamily="34" charset="0"/>
              </a:rPr>
              <a:t>MCE</a:t>
            </a:r>
          </a:p>
        </p:txBody>
      </p:sp>
    </p:spTree>
    <p:extLst>
      <p:ext uri="{BB962C8B-B14F-4D97-AF65-F5344CB8AC3E}">
        <p14:creationId xmlns:p14="http://schemas.microsoft.com/office/powerpoint/2010/main" val="151254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137" y="1009816"/>
            <a:ext cx="949385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Dataset </a:t>
            </a:r>
            <a:r>
              <a:rPr lang="en-US" sz="2800" b="1" dirty="0" smtClean="0">
                <a:solidFill>
                  <a:srgbClr val="00B0F0"/>
                </a:solidFill>
              </a:rPr>
              <a:t>Description</a:t>
            </a:r>
          </a:p>
          <a:p>
            <a:endParaRPr lang="en-US" sz="2800" b="1" dirty="0"/>
          </a:p>
          <a:p>
            <a:r>
              <a:rPr lang="en-US" dirty="0"/>
              <a:t>The Jamboree_Admission.csv dataset contains 400 entries covering key applicant parameters. The</a:t>
            </a:r>
          </a:p>
          <a:p>
            <a:r>
              <a:rPr lang="en-US" dirty="0"/>
              <a:t>features are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dirty="0"/>
              <a:t>• GRE Score (out of 340)</a:t>
            </a:r>
          </a:p>
          <a:p>
            <a:r>
              <a:rPr lang="en-US" dirty="0"/>
              <a:t>• TOEFL Score (out of 120)</a:t>
            </a:r>
          </a:p>
          <a:p>
            <a:r>
              <a:rPr lang="en-US" dirty="0"/>
              <a:t>• University Rating (1-5)</a:t>
            </a:r>
          </a:p>
          <a:p>
            <a:r>
              <a:rPr lang="en-US" dirty="0"/>
              <a:t>• SOP (Strength of Statement of Purpose, 1-5)</a:t>
            </a:r>
          </a:p>
          <a:p>
            <a:r>
              <a:rPr lang="en-US" dirty="0"/>
              <a:t>• LOR (Strength of Letter of Recommendation, 1-5)</a:t>
            </a:r>
          </a:p>
          <a:p>
            <a:r>
              <a:rPr lang="en-US" dirty="0"/>
              <a:t>• CGPA (Cumulative Grade Point Average, out of 10)</a:t>
            </a:r>
          </a:p>
          <a:p>
            <a:r>
              <a:rPr lang="en-US" dirty="0"/>
              <a:t>• Research (Binary: 1 if experience, 0 otherwise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The primary target variable is Chance of Admit. For the classification task, threshold transformation</a:t>
            </a:r>
          </a:p>
          <a:p>
            <a:r>
              <a:rPr lang="en-US" dirty="0"/>
              <a:t>was used to create Admit Status </a:t>
            </a:r>
            <a:r>
              <a:rPr lang="en-US" dirty="0" smtClean="0"/>
              <a:t>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7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7623" y="1073426"/>
            <a:ext cx="1002659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F0"/>
                </a:solidFill>
              </a:rPr>
              <a:t>Regression </a:t>
            </a:r>
            <a:r>
              <a:rPr lang="en-US" sz="2800" b="1" dirty="0" smtClean="0">
                <a:solidFill>
                  <a:srgbClr val="00B0F0"/>
                </a:solidFill>
              </a:rPr>
              <a:t>models</a:t>
            </a:r>
          </a:p>
          <a:p>
            <a:endParaRPr lang="en-US" sz="2400" b="1" dirty="0" smtClean="0"/>
          </a:p>
          <a:p>
            <a:r>
              <a:rPr lang="en-US" b="1" dirty="0" smtClean="0"/>
              <a:t>1) Linear </a:t>
            </a:r>
            <a:r>
              <a:rPr lang="en-US" b="1" dirty="0"/>
              <a:t>Regression (</a:t>
            </a:r>
            <a:r>
              <a:rPr lang="en-US" b="1" dirty="0" smtClean="0"/>
              <a:t>LR): </a:t>
            </a:r>
            <a:r>
              <a:rPr lang="en-US" dirty="0" smtClean="0"/>
              <a:t>Linear </a:t>
            </a:r>
            <a:r>
              <a:rPr lang="en-US" dirty="0"/>
              <a:t>Regression models the linear relationship between features </a:t>
            </a:r>
            <a:r>
              <a:rPr lang="en-US" b="1" dirty="0"/>
              <a:t>X </a:t>
            </a:r>
            <a:r>
              <a:rPr lang="en-US" dirty="0"/>
              <a:t>and the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target </a:t>
            </a:r>
            <a:r>
              <a:rPr lang="en-US" b="1" dirty="0"/>
              <a:t>y</a:t>
            </a:r>
            <a:r>
              <a:rPr lang="en-US" dirty="0"/>
              <a:t>. It seeks </a:t>
            </a:r>
            <a:r>
              <a:rPr lang="en-US" dirty="0" smtClean="0"/>
              <a:t>weights </a:t>
            </a:r>
            <a:r>
              <a:rPr lang="en-US" b="1" dirty="0" smtClean="0"/>
              <a:t>w </a:t>
            </a:r>
            <a:r>
              <a:rPr lang="en-US" dirty="0"/>
              <a:t>that minimize the sum of squared errors (OLS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 smtClean="0"/>
              <a:t>                                                      ˆ</a:t>
            </a:r>
            <a:r>
              <a:rPr lang="en-US" b="1" dirty="0"/>
              <a:t>y </a:t>
            </a:r>
            <a:r>
              <a:rPr lang="en-US" dirty="0"/>
              <a:t>= </a:t>
            </a:r>
            <a:r>
              <a:rPr lang="en-US" b="1" dirty="0" err="1"/>
              <a:t>Xw</a:t>
            </a:r>
            <a:r>
              <a:rPr lang="en-US" b="1" dirty="0"/>
              <a:t> </a:t>
            </a:r>
            <a:r>
              <a:rPr lang="en-US" dirty="0"/>
              <a:t>+ </a:t>
            </a:r>
            <a:r>
              <a:rPr lang="en-US" i="1" dirty="0"/>
              <a:t>b </a:t>
            </a:r>
            <a:r>
              <a:rPr lang="en-US" dirty="0"/>
              <a:t>(1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  The </a:t>
            </a:r>
            <a:r>
              <a:rPr lang="en-US" dirty="0"/>
              <a:t>objective function to be minimized is the Residual Sum of Squares (RSS</a:t>
            </a:r>
            <a:r>
              <a:rPr lang="en-US" dirty="0" smtClean="0"/>
              <a:t>):</a:t>
            </a:r>
          </a:p>
          <a:p>
            <a:endParaRPr lang="en-US" dirty="0"/>
          </a:p>
          <a:p>
            <a:r>
              <a:rPr lang="en-US" dirty="0" smtClean="0"/>
              <a:t>                                              min </a:t>
            </a:r>
            <a:r>
              <a:rPr lang="en-US" b="1" dirty="0"/>
              <a:t>w </a:t>
            </a:r>
            <a:r>
              <a:rPr lang="en-US" dirty="0"/>
              <a:t>||</a:t>
            </a:r>
            <a:r>
              <a:rPr lang="en-US" b="1" dirty="0" err="1"/>
              <a:t>Xw</a:t>
            </a:r>
            <a:r>
              <a:rPr lang="en-US" b="1" dirty="0"/>
              <a:t> </a:t>
            </a:r>
            <a:r>
              <a:rPr lang="en-US" dirty="0"/>
              <a:t>− </a:t>
            </a:r>
            <a:r>
              <a:rPr lang="en-US" b="1" dirty="0"/>
              <a:t>y</a:t>
            </a:r>
            <a:r>
              <a:rPr lang="en-US" dirty="0"/>
              <a:t>||</a:t>
            </a:r>
            <a:r>
              <a:rPr lang="en-US" dirty="0" smtClean="0"/>
              <a:t>22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2) </a:t>
            </a:r>
            <a:r>
              <a:rPr lang="en-US" b="1" dirty="0" smtClean="0"/>
              <a:t>Polynomial regression</a:t>
            </a:r>
            <a:r>
              <a:rPr lang="en-US" dirty="0" smtClean="0"/>
              <a:t>: This </a:t>
            </a:r>
            <a:r>
              <a:rPr lang="en-US" dirty="0"/>
              <a:t>technique fits a non-linear relationship by including polynomial terms (e.g., </a:t>
            </a:r>
            <a:r>
              <a:rPr lang="en-US" i="1" dirty="0"/>
              <a:t>x</a:t>
            </a:r>
            <a:r>
              <a:rPr lang="en-US" dirty="0"/>
              <a:t>2) </a:t>
            </a:r>
            <a:r>
              <a:rPr lang="en-US" dirty="0" smtClean="0"/>
              <a:t>as </a:t>
            </a:r>
            <a:r>
              <a:rPr lang="en-US" dirty="0"/>
              <a:t>features in </a:t>
            </a:r>
            <a:r>
              <a:rPr lang="en-US" dirty="0" smtClean="0"/>
              <a:t>a standard </a:t>
            </a:r>
            <a:r>
              <a:rPr lang="en-US" dirty="0"/>
              <a:t>linear model. A 2nd-degree polynomial was found to be optimal for this </a:t>
            </a:r>
            <a:r>
              <a:rPr lang="en-US" dirty="0" smtClean="0"/>
              <a:t>dataset</a:t>
            </a:r>
            <a:endParaRPr lang="en-US" dirty="0"/>
          </a:p>
          <a:p>
            <a:endParaRPr lang="en-US" sz="2400" b="1" dirty="0" smtClean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571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4014" y="803082"/>
            <a:ext cx="9835763" cy="5175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</a:rPr>
              <a:t>Classification models </a:t>
            </a:r>
          </a:p>
          <a:p>
            <a:endParaRPr lang="en-US" b="1" dirty="0" smtClean="0"/>
          </a:p>
          <a:p>
            <a:r>
              <a:rPr lang="en-US" b="1" dirty="0" smtClean="0"/>
              <a:t>1) K-Nearest </a:t>
            </a:r>
            <a:r>
              <a:rPr lang="en-US" b="1" dirty="0"/>
              <a:t>Neighbors (</a:t>
            </a:r>
            <a:r>
              <a:rPr lang="en-US" b="1" dirty="0" smtClean="0"/>
              <a:t>KNN): </a:t>
            </a:r>
            <a:r>
              <a:rPr lang="en-US" dirty="0" smtClean="0"/>
              <a:t>KNN </a:t>
            </a:r>
            <a:r>
              <a:rPr lang="en-US" dirty="0"/>
              <a:t>is a non-parametric, instance-based learning algorithm. A new data point is classified by </a:t>
            </a:r>
            <a:r>
              <a:rPr lang="en-US" dirty="0" smtClean="0"/>
              <a:t>the majority </a:t>
            </a:r>
            <a:r>
              <a:rPr lang="en-US" dirty="0"/>
              <a:t>vote of its </a:t>
            </a:r>
            <a:r>
              <a:rPr lang="en-US" i="1" dirty="0"/>
              <a:t>k </a:t>
            </a:r>
            <a:r>
              <a:rPr lang="en-US" dirty="0"/>
              <a:t>nearest neighbors in the feature space. The distance metric (often </a:t>
            </a:r>
            <a:r>
              <a:rPr lang="en-US" dirty="0" smtClean="0"/>
              <a:t>Euclidean) determines proximity</a:t>
            </a:r>
          </a:p>
          <a:p>
            <a:endParaRPr lang="en-US" dirty="0"/>
          </a:p>
          <a:p>
            <a:r>
              <a:rPr lang="en-US" dirty="0"/>
              <a:t>2</a:t>
            </a:r>
            <a:r>
              <a:rPr lang="en-US" dirty="0" smtClean="0"/>
              <a:t>)</a:t>
            </a:r>
            <a:r>
              <a:rPr lang="en-US" b="1" dirty="0" smtClean="0"/>
              <a:t> </a:t>
            </a:r>
            <a:r>
              <a:rPr lang="en-US" b="1" dirty="0"/>
              <a:t>Support Vector Machine (</a:t>
            </a:r>
            <a:r>
              <a:rPr lang="en-US" b="1" dirty="0" smtClean="0"/>
              <a:t>SVM):</a:t>
            </a:r>
            <a:r>
              <a:rPr lang="en-US" dirty="0" smtClean="0"/>
              <a:t>SVM </a:t>
            </a:r>
            <a:r>
              <a:rPr lang="en-US" dirty="0"/>
              <a:t>seeks to find the hyperplane in the feature space that maximally separates the classes. </a:t>
            </a:r>
            <a:r>
              <a:rPr lang="en-US" dirty="0" smtClean="0"/>
              <a:t>The goal </a:t>
            </a:r>
            <a:r>
              <a:rPr lang="en-US" dirty="0"/>
              <a:t>is to maximize the margin between the hyperplane and the training samples closest to it (</a:t>
            </a:r>
            <a:r>
              <a:rPr lang="en-US" dirty="0" smtClean="0"/>
              <a:t>the support </a:t>
            </a:r>
            <a:r>
              <a:rPr lang="en-US" dirty="0"/>
              <a:t>vectors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/>
              <a:t>3</a:t>
            </a:r>
            <a:r>
              <a:rPr lang="en-US" dirty="0" smtClean="0"/>
              <a:t>)</a:t>
            </a:r>
            <a:r>
              <a:rPr lang="en-US" b="1" dirty="0" smtClean="0"/>
              <a:t> </a:t>
            </a:r>
            <a:r>
              <a:rPr lang="en-US" b="1" dirty="0"/>
              <a:t>Decision Tree: </a:t>
            </a:r>
            <a:r>
              <a:rPr lang="en-US" dirty="0"/>
              <a:t>Splits the data recursively based on feature values to create homogeneous subgroups</a:t>
            </a:r>
          </a:p>
          <a:p>
            <a:r>
              <a:rPr lang="en-US" dirty="0"/>
              <a:t>(nodes) with respect to the target variable. The splits are chosen to maximize </a:t>
            </a:r>
            <a:r>
              <a:rPr lang="en-US" dirty="0" smtClean="0"/>
              <a:t>information gain </a:t>
            </a:r>
            <a:r>
              <a:rPr lang="en-US" dirty="0"/>
              <a:t>or minimize impurity (e.g., Gini impurity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/>
              <a:t>4</a:t>
            </a:r>
            <a:r>
              <a:rPr lang="en-US" dirty="0" smtClean="0"/>
              <a:t>)</a:t>
            </a:r>
            <a:r>
              <a:rPr lang="en-US" b="1" dirty="0" smtClean="0"/>
              <a:t> </a:t>
            </a:r>
            <a:r>
              <a:rPr lang="en-US" b="1" dirty="0"/>
              <a:t>Random Forest: </a:t>
            </a:r>
            <a:r>
              <a:rPr lang="en-US" dirty="0"/>
              <a:t>An ensemble method that constructs multiple Decision Trees at training </a:t>
            </a:r>
            <a:r>
              <a:rPr lang="en-US" dirty="0" smtClean="0"/>
              <a:t>time. It </a:t>
            </a:r>
            <a:r>
              <a:rPr lang="en-US" dirty="0"/>
              <a:t>combines their predictions (by voting) to produce a single, more stable, and more </a:t>
            </a:r>
            <a:r>
              <a:rPr lang="en-US" dirty="0" smtClean="0"/>
              <a:t>accurate final </a:t>
            </a:r>
            <a:r>
              <a:rPr lang="en-US" dirty="0"/>
              <a:t>prediction, mitigating the overfitting tendency of individual trees.</a:t>
            </a:r>
          </a:p>
        </p:txBody>
      </p:sp>
    </p:spTree>
    <p:extLst>
      <p:ext uri="{BB962C8B-B14F-4D97-AF65-F5344CB8AC3E}">
        <p14:creationId xmlns:p14="http://schemas.microsoft.com/office/powerpoint/2010/main" val="18329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0403" y="675862"/>
            <a:ext cx="981191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</a:rPr>
              <a:t>Classification models </a:t>
            </a:r>
            <a:r>
              <a:rPr lang="en-US" sz="3200" b="1" dirty="0" err="1" smtClean="0">
                <a:solidFill>
                  <a:srgbClr val="00B0F0"/>
                </a:solidFill>
              </a:rPr>
              <a:t>contd</a:t>
            </a:r>
            <a:r>
              <a:rPr lang="en-US" sz="3200" b="1" dirty="0" smtClean="0">
                <a:solidFill>
                  <a:srgbClr val="00B0F0"/>
                </a:solidFill>
              </a:rPr>
              <a:t>…</a:t>
            </a:r>
          </a:p>
          <a:p>
            <a:endParaRPr lang="en-US" b="1" dirty="0" smtClean="0"/>
          </a:p>
          <a:p>
            <a:r>
              <a:rPr lang="en-US" b="1" dirty="0" smtClean="0"/>
              <a:t>5</a:t>
            </a:r>
            <a:r>
              <a:rPr lang="en-US" b="1" dirty="0" smtClean="0"/>
              <a:t>)Logistic Regression: </a:t>
            </a:r>
            <a:r>
              <a:rPr lang="en-US" dirty="0" smtClean="0"/>
              <a:t>Despite its name, Logistic Regression is a classification algorithm. It uses the logistic function (sigmoid) to map the linear combination of features to a probability score between 0 and 1.</a:t>
            </a:r>
          </a:p>
          <a:p>
            <a:r>
              <a:rPr lang="en-US" i="1" dirty="0" smtClean="0"/>
              <a:t>                                     P</a:t>
            </a:r>
            <a:r>
              <a:rPr lang="en-US" dirty="0" smtClean="0"/>
              <a:t>(</a:t>
            </a:r>
            <a:r>
              <a:rPr lang="en-US" i="1" dirty="0" smtClean="0"/>
              <a:t>y </a:t>
            </a:r>
            <a:r>
              <a:rPr lang="en-US" dirty="0" smtClean="0"/>
              <a:t>= 1|</a:t>
            </a:r>
            <a:r>
              <a:rPr lang="en-US" b="1" dirty="0" smtClean="0"/>
              <a:t>x</a:t>
            </a:r>
            <a:r>
              <a:rPr lang="en-US" dirty="0" smtClean="0"/>
              <a:t>) = 1                                          </a:t>
            </a:r>
            <a:r>
              <a:rPr lang="nl-NL" dirty="0" smtClean="0"/>
              <a:t>1 + </a:t>
            </a:r>
            <a:r>
              <a:rPr lang="nl-NL" i="1" dirty="0" smtClean="0"/>
              <a:t>e</a:t>
            </a:r>
            <a:r>
              <a:rPr lang="nl-NL" dirty="0" smtClean="0"/>
              <a:t>−(</a:t>
            </a:r>
            <a:r>
              <a:rPr lang="nl-NL" b="1" dirty="0" smtClean="0"/>
              <a:t>w</a:t>
            </a:r>
            <a:r>
              <a:rPr lang="nl-NL" i="1" dirty="0" smtClean="0"/>
              <a:t>T </a:t>
            </a:r>
            <a:r>
              <a:rPr lang="nl-NL" b="1" dirty="0" smtClean="0"/>
              <a:t>x</a:t>
            </a:r>
            <a:r>
              <a:rPr lang="nl-NL" dirty="0" smtClean="0"/>
              <a:t>+</a:t>
            </a:r>
            <a:r>
              <a:rPr lang="nl-NL" i="1" dirty="0" smtClean="0"/>
              <a:t>b</a:t>
            </a:r>
            <a:r>
              <a:rPr lang="nl-NL" dirty="0" smtClean="0"/>
              <a:t>) (2)</a:t>
            </a:r>
          </a:p>
          <a:p>
            <a:r>
              <a:rPr lang="en-US" dirty="0" smtClean="0"/>
              <a:t>The model is trained by maximizing the likelihood of the observed data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6)</a:t>
            </a:r>
            <a:r>
              <a:rPr lang="en-US" b="1" dirty="0"/>
              <a:t> Naive Bayes (NB</a:t>
            </a:r>
            <a:r>
              <a:rPr lang="en-US" b="1" dirty="0" smtClean="0"/>
              <a:t>): </a:t>
            </a:r>
            <a:r>
              <a:rPr lang="en-US" dirty="0" smtClean="0"/>
              <a:t>Naive </a:t>
            </a:r>
            <a:r>
              <a:rPr lang="en-US" dirty="0"/>
              <a:t>Bayes is a simple probabilistic classifier based on applying Bayes’ theorem with the "</a:t>
            </a:r>
            <a:r>
              <a:rPr lang="en-US" dirty="0" err="1" smtClean="0"/>
              <a:t>naive"assumption</a:t>
            </a:r>
            <a:r>
              <a:rPr lang="en-US" dirty="0" smtClean="0"/>
              <a:t> </a:t>
            </a:r>
            <a:r>
              <a:rPr lang="en-US" dirty="0"/>
              <a:t>of conditional independence between every pair of features, given the class variable.</a:t>
            </a:r>
          </a:p>
          <a:p>
            <a:r>
              <a:rPr lang="en-US" i="1" dirty="0" smtClean="0"/>
              <a:t>                                 P</a:t>
            </a:r>
            <a:r>
              <a:rPr lang="en-US" dirty="0" smtClean="0"/>
              <a:t>(</a:t>
            </a:r>
            <a:r>
              <a:rPr lang="en-US" dirty="0" err="1" smtClean="0"/>
              <a:t>class|</a:t>
            </a:r>
            <a:r>
              <a:rPr lang="en-US" b="1" dirty="0" err="1" smtClean="0"/>
              <a:t>x</a:t>
            </a:r>
            <a:r>
              <a:rPr lang="en-US" dirty="0"/>
              <a:t>) = </a:t>
            </a:r>
            <a:r>
              <a:rPr lang="en-US" i="1" dirty="0" smtClean="0"/>
              <a:t>P</a:t>
            </a:r>
            <a:r>
              <a:rPr lang="en-US" dirty="0" smtClean="0"/>
              <a:t>(</a:t>
            </a:r>
            <a:r>
              <a:rPr lang="en-US" b="1" dirty="0" err="1" smtClean="0"/>
              <a:t>x</a:t>
            </a:r>
            <a:r>
              <a:rPr lang="en-US" dirty="0" err="1" smtClean="0"/>
              <a:t>|class</a:t>
            </a:r>
            <a:r>
              <a:rPr lang="en-US" dirty="0" smtClean="0"/>
              <a:t>)</a:t>
            </a:r>
            <a:r>
              <a:rPr lang="en-US" i="1" dirty="0" smtClean="0"/>
              <a:t>P</a:t>
            </a:r>
            <a:r>
              <a:rPr lang="en-US" dirty="0" smtClean="0"/>
              <a:t>(class)|p(x)</a:t>
            </a:r>
          </a:p>
          <a:p>
            <a:endParaRPr lang="en-US" dirty="0" smtClean="0"/>
          </a:p>
          <a:p>
            <a:r>
              <a:rPr lang="en-US" b="1" dirty="0" smtClean="0"/>
              <a:t>7) LDA</a:t>
            </a:r>
            <a:r>
              <a:rPr lang="en-US" b="1" dirty="0"/>
              <a:t>: </a:t>
            </a:r>
            <a:r>
              <a:rPr lang="en-US" dirty="0"/>
              <a:t>A classification technique that projects high-dimensional data onto a </a:t>
            </a:r>
            <a:r>
              <a:rPr lang="en-US" dirty="0" smtClean="0"/>
              <a:t>lower-dimensional subspace </a:t>
            </a:r>
            <a:r>
              <a:rPr lang="en-US" dirty="0"/>
              <a:t>to maximize class </a:t>
            </a:r>
            <a:r>
              <a:rPr lang="en-US" dirty="0" err="1"/>
              <a:t>separability</a:t>
            </a:r>
            <a:r>
              <a:rPr lang="en-US" dirty="0"/>
              <a:t> by maximizing the ratio of between-class variance </a:t>
            </a:r>
            <a:r>
              <a:rPr lang="en-US" dirty="0" smtClean="0"/>
              <a:t>to within-class </a:t>
            </a:r>
            <a:r>
              <a:rPr lang="en-US" dirty="0"/>
              <a:t>variance. It assumes equal covariance across classes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8) </a:t>
            </a:r>
            <a:r>
              <a:rPr lang="en-US" b="1" dirty="0" smtClean="0"/>
              <a:t>QDA</a:t>
            </a:r>
            <a:r>
              <a:rPr lang="en-US" b="1" dirty="0"/>
              <a:t>: </a:t>
            </a:r>
            <a:r>
              <a:rPr lang="en-US" dirty="0"/>
              <a:t>Similar to LDA, but it assumes that each class has its own unique covariance </a:t>
            </a:r>
            <a:r>
              <a:rPr lang="en-US" dirty="0" smtClean="0"/>
              <a:t>matrix. This </a:t>
            </a:r>
            <a:r>
              <a:rPr lang="en-US" dirty="0"/>
              <a:t>allows it to model non-linear boundaries between classes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6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8741" y="731521"/>
            <a:ext cx="108853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Regression Performance </a:t>
            </a:r>
            <a:r>
              <a:rPr lang="en-US" sz="2800" b="1" dirty="0" smtClean="0">
                <a:solidFill>
                  <a:srgbClr val="00B0F0"/>
                </a:solidFill>
              </a:rPr>
              <a:t>Metrics</a:t>
            </a:r>
          </a:p>
          <a:p>
            <a:r>
              <a:rPr lang="en-US" b="1" dirty="0" smtClean="0"/>
              <a:t>                              </a:t>
            </a:r>
            <a:r>
              <a:rPr lang="en-US" dirty="0" smtClean="0">
                <a:solidFill>
                  <a:schemeClr val="accent4"/>
                </a:solidFill>
              </a:rPr>
              <a:t>Table 1: Regression </a:t>
            </a:r>
            <a:r>
              <a:rPr lang="en-US" dirty="0">
                <a:solidFill>
                  <a:schemeClr val="accent4"/>
                </a:solidFill>
              </a:rPr>
              <a:t>Model Performance on Test Data (10% Split</a:t>
            </a:r>
            <a:r>
              <a:rPr lang="en-US" dirty="0" smtClean="0">
                <a:solidFill>
                  <a:schemeClr val="accent4"/>
                </a:solidFill>
              </a:rPr>
              <a:t>) 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15382"/>
              </p:ext>
            </p:extLst>
          </p:nvPr>
        </p:nvGraphicFramePr>
        <p:xfrm>
          <a:off x="580444" y="1563005"/>
          <a:ext cx="11060266" cy="4487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213">
                  <a:extLst>
                    <a:ext uri="{9D8B030D-6E8A-4147-A177-3AD203B41FA5}">
                      <a16:colId xmlns:a16="http://schemas.microsoft.com/office/drawing/2014/main" val="4143983139"/>
                    </a:ext>
                  </a:extLst>
                </a:gridCol>
                <a:gridCol w="1774304">
                  <a:extLst>
                    <a:ext uri="{9D8B030D-6E8A-4147-A177-3AD203B41FA5}">
                      <a16:colId xmlns:a16="http://schemas.microsoft.com/office/drawing/2014/main" val="1318006782"/>
                    </a:ext>
                  </a:extLst>
                </a:gridCol>
                <a:gridCol w="2079925">
                  <a:extLst>
                    <a:ext uri="{9D8B030D-6E8A-4147-A177-3AD203B41FA5}">
                      <a16:colId xmlns:a16="http://schemas.microsoft.com/office/drawing/2014/main" val="451348535"/>
                    </a:ext>
                  </a:extLst>
                </a:gridCol>
                <a:gridCol w="2014959">
                  <a:extLst>
                    <a:ext uri="{9D8B030D-6E8A-4147-A177-3AD203B41FA5}">
                      <a16:colId xmlns:a16="http://schemas.microsoft.com/office/drawing/2014/main" val="1654312397"/>
                    </a:ext>
                  </a:extLst>
                </a:gridCol>
                <a:gridCol w="1762865">
                  <a:extLst>
                    <a:ext uri="{9D8B030D-6E8A-4147-A177-3AD203B41FA5}">
                      <a16:colId xmlns:a16="http://schemas.microsoft.com/office/drawing/2014/main" val="1781462201"/>
                    </a:ext>
                  </a:extLst>
                </a:gridCol>
              </a:tblGrid>
              <a:tr h="373138">
                <a:tc>
                  <a:txBody>
                    <a:bodyPr/>
                    <a:lstStyle/>
                    <a:p>
                      <a:r>
                        <a:rPr lang="en-US" dirty="0" smtClean="0"/>
                        <a:t>Model 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R^2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MAE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MSE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RMSE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359373"/>
                  </a:ext>
                </a:extLst>
              </a:tr>
              <a:tr h="361924">
                <a:tc>
                  <a:txBody>
                    <a:bodyPr/>
                    <a:lstStyle/>
                    <a:p>
                      <a:r>
                        <a:rPr lang="en-US" dirty="0" smtClean="0"/>
                        <a:t>Linear regression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0.8188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0.0427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0.0609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206224"/>
                  </a:ext>
                </a:extLst>
              </a:tr>
              <a:tr h="361924">
                <a:tc>
                  <a:txBody>
                    <a:bodyPr/>
                    <a:lstStyle/>
                    <a:p>
                      <a:r>
                        <a:rPr lang="en-US" dirty="0" smtClean="0"/>
                        <a:t>Polynomial</a:t>
                      </a:r>
                      <a:r>
                        <a:rPr lang="en-US" baseline="0" dirty="0" smtClean="0"/>
                        <a:t> regression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0.8252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0.0416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920601"/>
                  </a:ext>
                </a:extLst>
              </a:tr>
              <a:tr h="633367">
                <a:tc>
                  <a:txBody>
                    <a:bodyPr/>
                    <a:lstStyle/>
                    <a:p>
                      <a:r>
                        <a:rPr lang="en-US" dirty="0" smtClean="0"/>
                        <a:t>Linear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regression</a:t>
                      </a:r>
                      <a:r>
                        <a:rPr lang="en-US" baseline="0" dirty="0" smtClean="0"/>
                        <a:t> after l1 regularization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0.0981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0.0150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0.1224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515826"/>
                  </a:ext>
                </a:extLst>
              </a:tr>
              <a:tr h="9048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Linear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regression</a:t>
                      </a:r>
                      <a:r>
                        <a:rPr lang="en-US" baseline="0" dirty="0" smtClean="0"/>
                        <a:t> after l2 regularization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0.8188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</a:t>
                      </a:r>
                      <a:r>
                        <a:rPr lang="en-US" dirty="0" smtClean="0"/>
                        <a:t>.0427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0.0037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0.0609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59956"/>
                  </a:ext>
                </a:extLst>
              </a:tr>
              <a:tr h="9048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Polynomial regression</a:t>
                      </a:r>
                      <a:r>
                        <a:rPr lang="en-US" baseline="0" dirty="0" smtClean="0"/>
                        <a:t> after l1 regularization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0.8253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0.0409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0.0598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785082"/>
                  </a:ext>
                </a:extLst>
              </a:tr>
              <a:tr h="9048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Polynomial regression</a:t>
                      </a:r>
                      <a:r>
                        <a:rPr lang="en-US" baseline="0" dirty="0" smtClean="0"/>
                        <a:t> after l2 regularization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0.8261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0.0407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0.0596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21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61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0504" y="771277"/>
            <a:ext cx="964493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F0"/>
                </a:solidFill>
              </a:rPr>
              <a:t>Classification Performance Metrics</a:t>
            </a:r>
          </a:p>
          <a:p>
            <a:endParaRPr lang="en-US" sz="2800" b="1" dirty="0" smtClean="0"/>
          </a:p>
          <a:p>
            <a:r>
              <a:rPr lang="en-US" dirty="0" smtClean="0">
                <a:solidFill>
                  <a:schemeClr val="accent4"/>
                </a:solidFill>
              </a:rPr>
              <a:t>Table 2: Classification Model Performance Summary (Accuracy and Stability)</a:t>
            </a:r>
          </a:p>
          <a:p>
            <a:endParaRPr lang="en-US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Model                                                       Hold-Out Acc.         CV Mean             Acc. CV Std.</a:t>
            </a:r>
          </a:p>
          <a:p>
            <a:endParaRPr lang="en-US" b="1" dirty="0" smtClean="0"/>
          </a:p>
          <a:p>
            <a:r>
              <a:rPr lang="en-US" dirty="0" smtClean="0"/>
              <a:t>Quadratic Discriminant Analysis (QDA)      0.96                           0.955                       0.010</a:t>
            </a:r>
          </a:p>
          <a:p>
            <a:r>
              <a:rPr lang="en-US" dirty="0" smtClean="0"/>
              <a:t>Linear Discriminant Analysis (LDA)            0.96                              -                               -</a:t>
            </a:r>
          </a:p>
          <a:p>
            <a:r>
              <a:rPr lang="en-US" dirty="0" smtClean="0"/>
              <a:t>Random Forest                                            0.96                            0.948                       0.012</a:t>
            </a:r>
          </a:p>
          <a:p>
            <a:r>
              <a:rPr lang="en-US" dirty="0" smtClean="0"/>
              <a:t>Logistic Regression                                      0.96                            0.945                       0.015</a:t>
            </a:r>
          </a:p>
          <a:p>
            <a:r>
              <a:rPr lang="en-US" dirty="0" smtClean="0"/>
              <a:t>Naive Bayes                                                  0.96                           0.930                       0.020</a:t>
            </a:r>
          </a:p>
          <a:p>
            <a:r>
              <a:rPr lang="en-US" dirty="0" smtClean="0"/>
              <a:t>Decision Tree                                               0.92                            0.935                       0.025</a:t>
            </a:r>
          </a:p>
          <a:p>
            <a:r>
              <a:rPr lang="en-US" dirty="0" smtClean="0"/>
              <a:t>Support Vector Machine (SVM)                   0.90                            0.925                        0.018</a:t>
            </a:r>
          </a:p>
          <a:p>
            <a:r>
              <a:rPr lang="en-US" dirty="0" smtClean="0"/>
              <a:t>K-Nearest Neighbors (KNN)                       0.88                            0.902                       0.020</a:t>
            </a:r>
          </a:p>
          <a:p>
            <a:endParaRPr lang="en-US" i="1" dirty="0" smtClean="0"/>
          </a:p>
          <a:p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Note: All Hold-Out (H/O) metrics are based on the 10% test split.’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84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3913" y="993913"/>
            <a:ext cx="1036055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</a:rPr>
              <a:t>Conclusion</a:t>
            </a:r>
          </a:p>
          <a:p>
            <a:endParaRPr lang="en-US" sz="3200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project demonstrated how a structured machine learning workflow can be used to model graduate </a:t>
            </a:r>
            <a:r>
              <a:rPr lang="en-US" dirty="0" smtClean="0"/>
              <a:t>admission outcomes </a:t>
            </a:r>
            <a:r>
              <a:rPr lang="en-US" dirty="0"/>
              <a:t>using applicant profile data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For the regression task, the results show that a modestly non-linear </a:t>
            </a:r>
            <a:r>
              <a:rPr lang="en-US" dirty="0" smtClean="0"/>
              <a:t>relationship exists </a:t>
            </a:r>
            <a:r>
              <a:rPr lang="en-US" dirty="0"/>
              <a:t>between the features and the Chance of Admit.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The </a:t>
            </a:r>
            <a:r>
              <a:rPr lang="en-US" dirty="0"/>
              <a:t>2nd-degree Polynomial Regression model captured </a:t>
            </a:r>
            <a:r>
              <a:rPr lang="en-US" dirty="0" smtClean="0"/>
              <a:t>this pattern </a:t>
            </a:r>
            <a:r>
              <a:rPr lang="en-US" dirty="0"/>
              <a:t>most effectively, achieving the highest </a:t>
            </a:r>
            <a:r>
              <a:rPr lang="en-US" i="1" dirty="0"/>
              <a:t>R</a:t>
            </a:r>
            <a:r>
              <a:rPr lang="en-US" dirty="0"/>
              <a:t>2 score (0</a:t>
            </a:r>
            <a:r>
              <a:rPr lang="en-US" i="1" dirty="0"/>
              <a:t>.</a:t>
            </a:r>
            <a:r>
              <a:rPr lang="en-US" dirty="0"/>
              <a:t>8252) and the lowest error metrics among all tested </a:t>
            </a:r>
            <a:r>
              <a:rPr lang="en-US" dirty="0" smtClean="0"/>
              <a:t>regression models.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For the classification task, multiple models achieved high test accuracy, indicating that the dataset is generally </a:t>
            </a:r>
            <a:r>
              <a:rPr lang="en-US" dirty="0" smtClean="0"/>
              <a:t>well suited for </a:t>
            </a:r>
            <a:r>
              <a:rPr lang="en-US" dirty="0"/>
              <a:t>distinguishing between admitted and rejected applicants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00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310" y="1852653"/>
            <a:ext cx="933483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 smtClean="0">
                <a:latin typeface="Bernard MT Condensed" panose="02050806060905020404" pitchFamily="18" charset="0"/>
              </a:rPr>
              <a:t>Thank you 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7005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1556</TotalTime>
  <Words>1081</Words>
  <Application>Microsoft Office PowerPoint</Application>
  <PresentationFormat>Widescreen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Bernard MT Condensed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WORKSTATIONS</dc:creator>
  <cp:lastModifiedBy>WORKSTATIONS</cp:lastModifiedBy>
  <cp:revision>18</cp:revision>
  <dcterms:created xsi:type="dcterms:W3CDTF">2025-11-16T08:50:49Z</dcterms:created>
  <dcterms:modified xsi:type="dcterms:W3CDTF">2025-11-17T10:47:08Z</dcterms:modified>
</cp:coreProperties>
</file>